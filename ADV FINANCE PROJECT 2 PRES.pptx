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  <p:sldMasterId id="214748366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31385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McMcdxdMzg9kbbloWWJouC6/N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3B37AE-46A1-42D2-B3CF-9C24CAF9268C}">
  <a:tblStyle styleId="{333B37AE-46A1-42D2-B3CF-9C24CAF926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customschemas.google.com/relationships/presentationmetadata" Target="metadata"/><Relationship Id="rId10" Type="http://schemas.openxmlformats.org/officeDocument/2006/relationships/slide" Target="slides/slide2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/>
          <p:nvPr>
            <p:ph idx="2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7dd9fd727_0_6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87dd9fd727_0_6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7dd9fd727_0_13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87dd9fd727_0_13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7dd9fd727_0_33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87dd9fd727_0_33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7dd9fd727_0_52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87dd9fd727_0_52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7dd9fd727_0_57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87dd9fd727_0_57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7dd9fd727_0_61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7dd9fd727_0_61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/>
          <p:nvPr>
            <p:ph idx="2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 txBox="1"/>
          <p:nvPr>
            <p:ph idx="12" type="sldNum"/>
          </p:nvPr>
        </p:nvSpPr>
        <p:spPr>
          <a:xfrm>
            <a:off x="3884613" y="8846554"/>
            <a:ext cx="2971800" cy="465693"/>
          </a:xfrm>
          <a:prstGeom prst="rect">
            <a:avLst/>
          </a:prstGeom>
          <a:noFill/>
          <a:ln>
            <a:noFill/>
          </a:ln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7dd9fd727_0_0:notes"/>
          <p:cNvSpPr/>
          <p:nvPr>
            <p:ph idx="2" type="sldImg"/>
          </p:nvPr>
        </p:nvSpPr>
        <p:spPr>
          <a:xfrm>
            <a:off x="327025" y="700088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7dd9fd727_0_0:notes"/>
          <p:cNvSpPr txBox="1"/>
          <p:nvPr>
            <p:ph idx="1" type="body"/>
          </p:nvPr>
        </p:nvSpPr>
        <p:spPr>
          <a:xfrm>
            <a:off x="685800" y="4424085"/>
            <a:ext cx="5486400" cy="4191300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87dd9fd727_0_0:notes"/>
          <p:cNvSpPr txBox="1"/>
          <p:nvPr>
            <p:ph idx="12" type="sldNum"/>
          </p:nvPr>
        </p:nvSpPr>
        <p:spPr>
          <a:xfrm>
            <a:off x="3884613" y="8846554"/>
            <a:ext cx="2971800" cy="465600"/>
          </a:xfrm>
          <a:prstGeom prst="rect">
            <a:avLst/>
          </a:prstGeom>
        </p:spPr>
        <p:txBody>
          <a:bodyPr anchorCtr="0" anchor="b" bIns="45650" lIns="91325" spcFirstLastPara="1" rIns="91325" wrap="square" tIns="45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327025" y="700088"/>
            <a:ext cx="6203950" cy="34909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Arial"/>
              <a:buNone/>
              <a:defRPr b="1" sz="40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457200" y="7774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457200" y="1771650"/>
            <a:ext cx="82296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749028"/>
            <a:ext cx="4038600" cy="3108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" name="Google Shape;24;p28"/>
          <p:cNvSpPr txBox="1"/>
          <p:nvPr>
            <p:ph idx="2" type="body"/>
          </p:nvPr>
        </p:nvSpPr>
        <p:spPr>
          <a:xfrm>
            <a:off x="4648200" y="1749028"/>
            <a:ext cx="4038600" cy="3108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/>
          <p:nvPr>
            <p:ph type="title"/>
          </p:nvPr>
        </p:nvSpPr>
        <p:spPr>
          <a:xfrm>
            <a:off x="420688" y="64151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" type="body"/>
          </p:nvPr>
        </p:nvSpPr>
        <p:spPr>
          <a:xfrm>
            <a:off x="3575050" y="920884"/>
            <a:ext cx="5111750" cy="4051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" name="Google Shape;28;p29"/>
          <p:cNvSpPr txBox="1"/>
          <p:nvPr>
            <p:ph idx="2" type="body"/>
          </p:nvPr>
        </p:nvSpPr>
        <p:spPr>
          <a:xfrm>
            <a:off x="420688" y="1601629"/>
            <a:ext cx="3008313" cy="31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1792288" y="3829050"/>
            <a:ext cx="5486400" cy="4257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/>
          <p:nvPr>
            <p:ph idx="2" type="pic"/>
          </p:nvPr>
        </p:nvSpPr>
        <p:spPr>
          <a:xfrm>
            <a:off x="1792288" y="685800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30"/>
          <p:cNvSpPr txBox="1"/>
          <p:nvPr>
            <p:ph idx="1" type="body"/>
          </p:nvPr>
        </p:nvSpPr>
        <p:spPr>
          <a:xfrm>
            <a:off x="1792288" y="4254817"/>
            <a:ext cx="5486400" cy="602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819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653778"/>
            <a:ext cx="8229600" cy="3280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" type="subTitle"/>
          </p:nvPr>
        </p:nvSpPr>
        <p:spPr>
          <a:xfrm>
            <a:off x="685800" y="2914650"/>
            <a:ext cx="77724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722313" y="3305177"/>
            <a:ext cx="7772400" cy="1247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sz="4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819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457200" y="1733550"/>
            <a:ext cx="4038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4648200" y="1733550"/>
            <a:ext cx="4038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819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457204" y="91440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" type="body"/>
          </p:nvPr>
        </p:nvSpPr>
        <p:spPr>
          <a:xfrm>
            <a:off x="3575050" y="914401"/>
            <a:ext cx="5111750" cy="3943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4" name="Google Shape;54;p19"/>
          <p:cNvSpPr txBox="1"/>
          <p:nvPr>
            <p:ph idx="2" type="body"/>
          </p:nvPr>
        </p:nvSpPr>
        <p:spPr>
          <a:xfrm>
            <a:off x="457204" y="1853804"/>
            <a:ext cx="3008313" cy="3003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type="title"/>
          </p:nvPr>
        </p:nvSpPr>
        <p:spPr>
          <a:xfrm>
            <a:off x="1792288" y="3905251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/>
          <p:nvPr>
            <p:ph idx="2" type="pic"/>
          </p:nvPr>
        </p:nvSpPr>
        <p:spPr>
          <a:xfrm>
            <a:off x="1792288" y="7643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1792288" y="433030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1905002" y="2000253"/>
            <a:ext cx="6834983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type="title"/>
          </p:nvPr>
        </p:nvSpPr>
        <p:spPr>
          <a:xfrm>
            <a:off x="457200" y="819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457200" y="1737360"/>
            <a:ext cx="822960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ctrTitle"/>
          </p:nvPr>
        </p:nvSpPr>
        <p:spPr>
          <a:xfrm>
            <a:off x="685800" y="1597343"/>
            <a:ext cx="7772400" cy="1102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262626"/>
              </a:buClr>
              <a:buSzPts val="3200"/>
              <a:buNone/>
              <a:defRPr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  <a:defRPr b="1" sz="40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>
            <a:off x="457200" y="6286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>
            <a:off x="457200" y="1474470"/>
            <a:ext cx="4038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24"/>
          <p:cNvSpPr txBox="1"/>
          <p:nvPr>
            <p:ph idx="2" type="body"/>
          </p:nvPr>
        </p:nvSpPr>
        <p:spPr>
          <a:xfrm>
            <a:off x="4648200" y="1474470"/>
            <a:ext cx="4038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>
            <a:off x="420688" y="64151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>
            <a:off x="3575050" y="920884"/>
            <a:ext cx="5111750" cy="4051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262626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25"/>
          <p:cNvSpPr txBox="1"/>
          <p:nvPr>
            <p:ph idx="2" type="body"/>
          </p:nvPr>
        </p:nvSpPr>
        <p:spPr>
          <a:xfrm>
            <a:off x="420688" y="1601629"/>
            <a:ext cx="3008313" cy="31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6"/>
          <p:cNvSpPr txBox="1"/>
          <p:nvPr>
            <p:ph type="title"/>
          </p:nvPr>
        </p:nvSpPr>
        <p:spPr>
          <a:xfrm>
            <a:off x="1792288" y="3829050"/>
            <a:ext cx="5486400" cy="4257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/>
          <p:nvPr>
            <p:ph idx="2" type="pic"/>
          </p:nvPr>
        </p:nvSpPr>
        <p:spPr>
          <a:xfrm>
            <a:off x="1792288" y="685800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6"/>
          <p:cNvSpPr txBox="1"/>
          <p:nvPr>
            <p:ph idx="1" type="body"/>
          </p:nvPr>
        </p:nvSpPr>
        <p:spPr>
          <a:xfrm>
            <a:off x="1792288" y="4254817"/>
            <a:ext cx="5486400" cy="602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819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53778"/>
            <a:ext cx="8229600" cy="3280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457200" y="6286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57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3"/>
          <p:cNvCxnSpPr/>
          <p:nvPr/>
        </p:nvCxnSpPr>
        <p:spPr>
          <a:xfrm>
            <a:off x="628650" y="3105150"/>
            <a:ext cx="561975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"/>
          <p:cNvSpPr txBox="1"/>
          <p:nvPr/>
        </p:nvSpPr>
        <p:spPr>
          <a:xfrm>
            <a:off x="548640" y="4114800"/>
            <a:ext cx="78867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AILEEN LI, LUKE HARTFIELD, SAMAY MOHAPATRA</a:t>
            </a:r>
            <a:endParaRPr/>
          </a:p>
          <a:p>
            <a:pPr indent="0" lvl="0" marL="0" marR="0" rtl="0" algn="l">
              <a:lnSpc>
                <a:spcPct val="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University of Texas at Austin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48640" y="457200"/>
            <a:ext cx="7828444" cy="389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OCTOBER 2025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502920" y="1200150"/>
            <a:ext cx="7886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Black"/>
              <a:buNone/>
            </a:pPr>
            <a:r>
              <a:rPr b="1" lang="en-US" sz="4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LAS TRADERS</a:t>
            </a:r>
            <a:endParaRPr b="1" sz="4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Black"/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548640" y="3333749"/>
            <a:ext cx="78867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Evaluating Portfolio Optimization with In-Sample and Out-of-Sample Techniques</a:t>
            </a:r>
            <a:endParaRPr/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8699" y="320040"/>
            <a:ext cx="187739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>
            <p:ph type="title"/>
          </p:nvPr>
        </p:nvSpPr>
        <p:spPr>
          <a:xfrm>
            <a:off x="457200" y="7774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2" name="Google Shape;102;p7"/>
          <p:cNvSpPr txBox="1"/>
          <p:nvPr>
            <p:ph idx="1" type="body"/>
          </p:nvPr>
        </p:nvSpPr>
        <p:spPr>
          <a:xfrm>
            <a:off x="457200" y="1771650"/>
            <a:ext cx="83664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Built a portfolio optimization tool using real-world stock data from WRDS CRSP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Used both mean-variance optimization and Ledoit-Wolf shrinkage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Compared in-sample (IS) and out-of-sample (OOS) results with visualizations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7dd9fd727_0_6"/>
          <p:cNvSpPr txBox="1"/>
          <p:nvPr>
            <p:ph type="title"/>
          </p:nvPr>
        </p:nvSpPr>
        <p:spPr>
          <a:xfrm>
            <a:off x="457200" y="7774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USER INPUTS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8" name="Google Shape;108;g387dd9fd727_0_6"/>
          <p:cNvSpPr txBox="1"/>
          <p:nvPr>
            <p:ph idx="1" type="body"/>
          </p:nvPr>
        </p:nvSpPr>
        <p:spPr>
          <a:xfrm>
            <a:off x="308000" y="1771650"/>
            <a:ext cx="41748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User provides: stock tickers, in-sample and out-of-sample date ranges, and starting weights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Tickers, dates, weights checked for validity</a:t>
            </a:r>
            <a:endParaRPr/>
          </a:p>
        </p:txBody>
      </p:sp>
      <p:sp>
        <p:nvSpPr>
          <p:cNvPr id="109" name="Google Shape;109;g387dd9fd727_0_6"/>
          <p:cNvSpPr txBox="1"/>
          <p:nvPr>
            <p:ph idx="1" type="body"/>
          </p:nvPr>
        </p:nvSpPr>
        <p:spPr>
          <a:xfrm>
            <a:off x="4829550" y="1771650"/>
            <a:ext cx="41748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In Plain English: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“What tickers are in your portfolio?”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“What percentage of your portfolio is invested into XYZ?”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…</a:t>
            </a:r>
            <a:endParaRPr/>
          </a:p>
        </p:txBody>
      </p:sp>
      <p:cxnSp>
        <p:nvCxnSpPr>
          <p:cNvPr id="110" name="Google Shape;110;g387dd9fd727_0_6"/>
          <p:cNvCxnSpPr/>
          <p:nvPr/>
        </p:nvCxnSpPr>
        <p:spPr>
          <a:xfrm>
            <a:off x="4560950" y="1726350"/>
            <a:ext cx="0" cy="285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7dd9fd727_0_13"/>
          <p:cNvSpPr txBox="1"/>
          <p:nvPr>
            <p:ph type="title"/>
          </p:nvPr>
        </p:nvSpPr>
        <p:spPr>
          <a:xfrm>
            <a:off x="457200" y="7774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DATA CLEANING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6" name="Google Shape;116;g387dd9fd727_0_13"/>
          <p:cNvSpPr txBox="1"/>
          <p:nvPr>
            <p:ph idx="1" type="body"/>
          </p:nvPr>
        </p:nvSpPr>
        <p:spPr>
          <a:xfrm>
            <a:off x="308000" y="1771650"/>
            <a:ext cx="8700300" cy="1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Pulled monthly returns, prices, and shares from CRSP (Center for Research in Security Prices)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Matched tickers to correct dates and handled delisting returns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Cleaned data: fixed negative prices, filled missing delisting returns, dropped missing regular returns</a:t>
            </a:r>
            <a:endParaRPr/>
          </a:p>
        </p:txBody>
      </p:sp>
      <p:pic>
        <p:nvPicPr>
          <p:cNvPr id="117" name="Google Shape;117;g387dd9fd727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213" y="3924675"/>
            <a:ext cx="3593580" cy="10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7dd9fd727_0_33"/>
          <p:cNvSpPr txBox="1"/>
          <p:nvPr>
            <p:ph type="title"/>
          </p:nvPr>
        </p:nvSpPr>
        <p:spPr>
          <a:xfrm>
            <a:off x="457200" y="7774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/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PORTFOLIO OPTIMIZATION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graphicFrame>
        <p:nvGraphicFramePr>
          <p:cNvPr id="123" name="Google Shape;123;g387dd9fd727_0_33"/>
          <p:cNvGraphicFramePr/>
          <p:nvPr/>
        </p:nvGraphicFramePr>
        <p:xfrm>
          <a:off x="121300" y="212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{333B37AE-46A1-42D2-B3CF-9C24CAF9268C}</a:tableStyleId>
              </a:tblPr>
              <a:tblGrid>
                <a:gridCol w="987850"/>
                <a:gridCol w="1115825"/>
                <a:gridCol w="754825"/>
                <a:gridCol w="1012200"/>
                <a:gridCol w="651100"/>
              </a:tblGrid>
              <a:tr h="50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TICKERS</a:t>
                      </a:r>
                      <a:endParaRPr sz="12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ORIGINAL</a:t>
                      </a:r>
                      <a:endParaRPr sz="12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GMV</a:t>
                      </a:r>
                      <a:endParaRPr sz="12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EFPORT</a:t>
                      </a:r>
                      <a:endParaRPr sz="12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ORP</a:t>
                      </a:r>
                      <a:endParaRPr sz="12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91425" marB="91425" marR="91425" marL="91425" anchor="ctr"/>
                </a:tc>
              </a:tr>
              <a:tr h="4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WMT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NVDA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AMD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MSFT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g387dd9fd727_0_33"/>
          <p:cNvSpPr txBox="1"/>
          <p:nvPr>
            <p:ph idx="1" type="body"/>
          </p:nvPr>
        </p:nvSpPr>
        <p:spPr>
          <a:xfrm>
            <a:off x="749450" y="4369200"/>
            <a:ext cx="32655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Calculated </a:t>
            </a:r>
            <a:r>
              <a:rPr i="1" lang="en-US"/>
              <a:t>with</a:t>
            </a:r>
            <a:r>
              <a:rPr i="1" lang="en-US"/>
              <a:t> in-sample returns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x2 for LW</a:t>
            </a:r>
            <a:endParaRPr i="1"/>
          </a:p>
        </p:txBody>
      </p:sp>
      <p:graphicFrame>
        <p:nvGraphicFramePr>
          <p:cNvPr id="125" name="Google Shape;125;g387dd9fd727_0_33"/>
          <p:cNvGraphicFramePr/>
          <p:nvPr/>
        </p:nvGraphicFramePr>
        <p:xfrm>
          <a:off x="5615350" y="221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{333B37AE-46A1-42D2-B3CF-9C24CAF9268C}</a:tableStyleId>
              </a:tblPr>
              <a:tblGrid>
                <a:gridCol w="1149075"/>
                <a:gridCol w="1074475"/>
                <a:gridCol w="1177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WEIGHTS</a:t>
                      </a:r>
                      <a:endParaRPr sz="10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IS RETURNS</a:t>
                      </a:r>
                      <a:endParaRPr sz="10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OS RETURNS</a:t>
                      </a:r>
                      <a:endParaRPr sz="1000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Original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 * μ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 * μ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GMV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 * μ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 * μ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EFPORT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 * μ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 * μ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ORP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 * μ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 * μ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6" name="Google Shape;126;g387dd9fd727_0_33"/>
          <p:cNvSpPr txBox="1"/>
          <p:nvPr>
            <p:ph idx="1" type="body"/>
          </p:nvPr>
        </p:nvSpPr>
        <p:spPr>
          <a:xfrm>
            <a:off x="749450" y="1765900"/>
            <a:ext cx="32655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Weights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87dd9fd727_0_33"/>
          <p:cNvSpPr/>
          <p:nvPr/>
        </p:nvSpPr>
        <p:spPr>
          <a:xfrm>
            <a:off x="4788275" y="2744283"/>
            <a:ext cx="681900" cy="91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57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4CC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87dd9fd727_0_33"/>
          <p:cNvSpPr txBox="1"/>
          <p:nvPr>
            <p:ph idx="1" type="body"/>
          </p:nvPr>
        </p:nvSpPr>
        <p:spPr>
          <a:xfrm>
            <a:off x="5682925" y="1901475"/>
            <a:ext cx="32655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Returns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7dd9fd727_0_52"/>
          <p:cNvSpPr txBox="1"/>
          <p:nvPr>
            <p:ph type="title"/>
          </p:nvPr>
        </p:nvSpPr>
        <p:spPr>
          <a:xfrm>
            <a:off x="418700" y="36542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KEY FINDINGS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4" name="Google Shape;134;g387dd9fd727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75" y="1142988"/>
            <a:ext cx="37623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87dd9fd727_0_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0375" y="1143000"/>
            <a:ext cx="376793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87dd9fd727_0_52"/>
          <p:cNvSpPr txBox="1"/>
          <p:nvPr>
            <p:ph idx="1" type="body"/>
          </p:nvPr>
        </p:nvSpPr>
        <p:spPr>
          <a:xfrm>
            <a:off x="603200" y="4047600"/>
            <a:ext cx="786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IS portfolios look strong, but OOS performance drops: returns are lower and risk is higher</a:t>
            </a:r>
            <a:endParaRPr/>
          </a:p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This is due to estimation risk: weights fit to past data may not work on new data</a:t>
            </a:r>
            <a:endParaRPr/>
          </a:p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Ledoit-Wolf shrinkage helps a bit, but can't remove all risk from changing markets</a:t>
            </a:r>
            <a:endParaRPr/>
          </a:p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56250"/>
              <a:buChar char="-"/>
            </a:pPr>
            <a:r>
              <a:rPr lang="en-US"/>
              <a:t>The more you update weights, the more you may pay in trading costs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7dd9fd727_0_57"/>
          <p:cNvSpPr txBox="1"/>
          <p:nvPr>
            <p:ph type="title"/>
          </p:nvPr>
        </p:nvSpPr>
        <p:spPr>
          <a:xfrm>
            <a:off x="457200" y="7774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LIMITATIONS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g387dd9fd727_0_57"/>
          <p:cNvSpPr txBox="1"/>
          <p:nvPr/>
        </p:nvSpPr>
        <p:spPr>
          <a:xfrm>
            <a:off x="707925" y="1799300"/>
            <a:ext cx="8465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User inputs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Noise vs diversification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Decrease in risk does not Increase alpha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Constraints on weights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7dd9fd727_0_61"/>
          <p:cNvSpPr txBox="1"/>
          <p:nvPr>
            <p:ph type="title"/>
          </p:nvPr>
        </p:nvSpPr>
        <p:spPr>
          <a:xfrm>
            <a:off x="457200" y="7774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</a:pPr>
            <a:r>
              <a:rPr lang="en-US"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8" name="Google Shape;148;g387dd9fd727_0_61"/>
          <p:cNvSpPr txBox="1"/>
          <p:nvPr/>
        </p:nvSpPr>
        <p:spPr>
          <a:xfrm>
            <a:off x="457200" y="1869600"/>
            <a:ext cx="8349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In-sample looks great, does not translate to out-of-sample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Shrinkage made weights smaller but did not always raise Sharpe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Constraints matter and can push to corner solutions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Other methods are needed to help mitigate overfitting and allow for generalization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" name="Google Shape;154;p4"/>
          <p:cNvCxnSpPr/>
          <p:nvPr/>
        </p:nvCxnSpPr>
        <p:spPr>
          <a:xfrm>
            <a:off x="628650" y="3105150"/>
            <a:ext cx="5619750" cy="0"/>
          </a:xfrm>
          <a:prstGeom prst="straightConnector1">
            <a:avLst/>
          </a:prstGeom>
          <a:noFill/>
          <a:ln cap="flat" cmpd="sng" w="19050">
            <a:solidFill>
              <a:srgbClr val="BF57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4"/>
          <p:cNvSpPr txBox="1"/>
          <p:nvPr/>
        </p:nvSpPr>
        <p:spPr>
          <a:xfrm>
            <a:off x="548640" y="4114800"/>
            <a:ext cx="78867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F5700"/>
                </a:solidFill>
                <a:latin typeface="Arial Black"/>
                <a:ea typeface="Arial Black"/>
                <a:cs typeface="Arial Black"/>
                <a:sym typeface="Arial Black"/>
              </a:rPr>
              <a:t>PRESENTER OR SPEAKER NAME</a:t>
            </a:r>
            <a:endParaRPr/>
          </a:p>
          <a:p>
            <a:pPr indent="0" lvl="0" marL="0" marR="0" rtl="0" algn="l">
              <a:lnSpc>
                <a:spcPct val="30000"/>
              </a:lnSpc>
              <a:spcBef>
                <a:spcPts val="1000"/>
              </a:spcBef>
              <a:spcAft>
                <a:spcPts val="0"/>
              </a:spcAft>
              <a:buClr>
                <a:srgbClr val="BF57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F5700"/>
                </a:solidFill>
                <a:latin typeface="Arial"/>
                <a:ea typeface="Arial"/>
                <a:cs typeface="Arial"/>
                <a:sym typeface="Arial"/>
              </a:rPr>
              <a:t>Position/Role, The University of Texas at Austin</a:t>
            </a:r>
            <a:endParaRPr b="0" i="0" sz="1050" u="none" cap="none" strike="noStrike">
              <a:solidFill>
                <a:srgbClr val="BF57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548640" y="457200"/>
            <a:ext cx="7828444" cy="389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5700"/>
                </a:solidFill>
                <a:latin typeface="Arial Black"/>
                <a:ea typeface="Arial Black"/>
                <a:cs typeface="Arial Black"/>
                <a:sym typeface="Arial Black"/>
              </a:rPr>
              <a:t>MONTH 20XX</a:t>
            </a:r>
            <a:endParaRPr b="0" i="0" sz="1200" u="none" cap="none" strike="noStrike">
              <a:solidFill>
                <a:srgbClr val="BF57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502920" y="1200150"/>
            <a:ext cx="7886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BF5700"/>
                </a:solidFill>
                <a:latin typeface="Arial Black"/>
                <a:ea typeface="Arial Black"/>
                <a:cs typeface="Arial Black"/>
                <a:sym typeface="Arial Black"/>
              </a:rPr>
              <a:t>INSERT YOUR</a:t>
            </a:r>
            <a:br>
              <a:rPr b="1" i="0" lang="en-US" sz="4800" u="none" cap="none" strike="noStrike">
                <a:solidFill>
                  <a:srgbClr val="BF57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i="0" lang="en-US" sz="4800" u="none" cap="none" strike="noStrike">
                <a:solidFill>
                  <a:srgbClr val="BF5700"/>
                </a:solidFill>
                <a:latin typeface="Arial Black"/>
                <a:ea typeface="Arial Black"/>
                <a:cs typeface="Arial Black"/>
                <a:sym typeface="Arial Black"/>
              </a:rPr>
              <a:t>HEADLINE HERE</a:t>
            </a:r>
            <a:br>
              <a:rPr b="1" i="0" lang="en-US" sz="4800" u="none" cap="none" strike="noStrike">
                <a:solidFill>
                  <a:srgbClr val="BF57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i="0" lang="en-US" sz="4800" u="none" cap="none" strike="noStrike">
                <a:solidFill>
                  <a:srgbClr val="BF5700"/>
                </a:solidFill>
                <a:latin typeface="Arial Black"/>
                <a:ea typeface="Arial Black"/>
                <a:cs typeface="Arial Black"/>
                <a:sym typeface="Arial Black"/>
              </a:rPr>
              <a:t>UP TO 3 LINES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548640" y="3333749"/>
            <a:ext cx="78867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57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F5700"/>
                </a:solidFill>
                <a:latin typeface="Arial"/>
                <a:ea typeface="Arial"/>
                <a:cs typeface="Arial"/>
                <a:sym typeface="Arial"/>
              </a:rPr>
              <a:t>Insert your subtitle or any additional description text here up to</a:t>
            </a:r>
            <a:br>
              <a:rPr b="0" i="0" lang="en-US" sz="1400" u="none" cap="none" strike="noStrike">
                <a:solidFill>
                  <a:srgbClr val="BF57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BF5700"/>
                </a:solidFill>
                <a:latin typeface="Arial"/>
                <a:ea typeface="Arial"/>
                <a:cs typeface="Arial"/>
                <a:sym typeface="Arial"/>
              </a:rPr>
              <a:t>two lines of text or you can delete this text box</a:t>
            </a:r>
            <a:endParaRPr/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8699" y="320040"/>
            <a:ext cx="1877397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7dd9fd727_0_0"/>
          <p:cNvSpPr txBox="1"/>
          <p:nvPr>
            <p:ph type="title"/>
          </p:nvPr>
        </p:nvSpPr>
        <p:spPr>
          <a:xfrm>
            <a:off x="457200" y="7774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87dd9fd727_0_0"/>
          <p:cNvSpPr txBox="1"/>
          <p:nvPr>
            <p:ph idx="1" type="body"/>
          </p:nvPr>
        </p:nvSpPr>
        <p:spPr>
          <a:xfrm>
            <a:off x="457200" y="1771650"/>
            <a:ext cx="8229600" cy="29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457200" y="81915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457200" y="1653778"/>
            <a:ext cx="8229600" cy="3280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457200" y="1737360"/>
            <a:ext cx="822960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6-9 White Backgrou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6-9 Dark Background">
  <a:themeElements>
    <a:clrScheme name="Custom 1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403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6-9 Light Backgroun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2011-06-30T15:04:08Z</dcterms:created>
  <dc:creator>University Marketing and Creative Services</dc:creator>
</cp:coreProperties>
</file>